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image" Target="../media/image1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1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-4762"/>
            <a:ext cx="9144000" cy="514826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3"/>
            </p:custDataLst>
          </p:nvPr>
        </p:nvSpPr>
        <p:spPr>
          <a:xfrm rot="13818227">
            <a:off x="8009493" y="2698173"/>
            <a:ext cx="312439" cy="1965094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286575" y="2727432"/>
            <a:ext cx="1856568" cy="2420831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28650" y="939641"/>
            <a:ext cx="7886700" cy="2176939"/>
          </a:xfrm>
          <a:noFill/>
        </p:spPr>
        <p:txBody>
          <a:bodyPr wrap="square" rtlCol="0" anchor="t">
            <a:normAutofit/>
          </a:bodyPr>
          <a:lstStyle>
            <a:lvl1pPr>
              <a:defRPr lang="en-US" sz="39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678656" y="135731"/>
            <a:ext cx="7886700" cy="70866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3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668655" y="3709988"/>
            <a:ext cx="4332446" cy="93345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35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065796" y="3224363"/>
            <a:ext cx="3895226" cy="378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5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628649" y="3251363"/>
            <a:ext cx="324000" cy="324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746760"/>
            <a:ext cx="3518059" cy="2185511"/>
          </a:xfrm>
        </p:spPr>
        <p:txBody>
          <a:bodyPr wrap="square" anchor="b">
            <a:normAutofit/>
          </a:bodyPr>
          <a:lstStyle>
            <a:lvl1pPr algn="ctr">
              <a:defRPr sz="435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4762"/>
            <a:ext cx="9144000" cy="514826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3"/>
            </p:custDataLst>
          </p:nvPr>
        </p:nvSpPr>
        <p:spPr>
          <a:xfrm rot="13818227">
            <a:off x="8133012" y="2959992"/>
            <a:ext cx="278444" cy="1751282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488751" y="2986067"/>
            <a:ext cx="1654565" cy="2157433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6"/>
            </p:custDataLst>
          </p:nvPr>
        </p:nvSpPr>
        <p:spPr>
          <a:xfrm rot="3018227">
            <a:off x="732847" y="435560"/>
            <a:ext cx="278444" cy="1751282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988" y="3334"/>
            <a:ext cx="1654565" cy="2157433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22000" y="2456021"/>
            <a:ext cx="8100000" cy="1985010"/>
          </a:xfrm>
        </p:spPr>
        <p:txBody>
          <a:bodyPr wrap="square" anchor="t" anchorCtr="0">
            <a:normAutofit/>
          </a:bodyPr>
          <a:lstStyle>
            <a:lvl1pPr algn="ctr">
              <a:defRPr sz="45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143000" y="230505"/>
            <a:ext cx="6858000" cy="2069783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375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976313"/>
            <a:ext cx="3992880" cy="3656888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976313"/>
            <a:ext cx="3992880" cy="3656888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970" y="270034"/>
            <a:ext cx="8100536" cy="648176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1406324"/>
            <a:ext cx="3992880" cy="3225207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1406324"/>
            <a:ext cx="3992880" cy="3225207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270034"/>
            <a:ext cx="8101489" cy="4363403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970" y="270034"/>
            <a:ext cx="8099108" cy="648176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97631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-4762"/>
            <a:ext cx="9144000" cy="514826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3"/>
            </p:custDataLst>
          </p:nvPr>
        </p:nvSpPr>
        <p:spPr>
          <a:xfrm rot="13818227">
            <a:off x="8009493" y="2698173"/>
            <a:ext cx="312439" cy="1965094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286575" y="2727432"/>
            <a:ext cx="1856568" cy="2420831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29126" y="159544"/>
            <a:ext cx="7886224" cy="2229803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5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669131" y="3966210"/>
            <a:ext cx="5486400" cy="671036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en-US" sz="135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082993" y="2755583"/>
            <a:ext cx="7432834" cy="90297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en-US" sz="15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629125" y="2702434"/>
            <a:ext cx="324000" cy="324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3.xml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4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image" Target="../media/image2.png"/><Relationship Id="rId13" Type="http://schemas.openxmlformats.org/officeDocument/2006/relationships/tags" Target="../tags/tag73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algn="ctr"/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90.xml"/><Relationship Id="rId11" Type="http://schemas.openxmlformats.org/officeDocument/2006/relationships/image" Target="../media/image3.png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4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4.xml"/><Relationship Id="rId23" Type="http://schemas.openxmlformats.org/officeDocument/2006/relationships/tags" Target="../tags/tag138.xml"/><Relationship Id="rId22" Type="http://schemas.openxmlformats.org/officeDocument/2006/relationships/tags" Target="../tags/tag137.xml"/><Relationship Id="rId21" Type="http://schemas.openxmlformats.org/officeDocument/2006/relationships/tags" Target="../tags/tag136.xml"/><Relationship Id="rId20" Type="http://schemas.openxmlformats.org/officeDocument/2006/relationships/tags" Target="../tags/tag135.xml"/><Relationship Id="rId2" Type="http://schemas.openxmlformats.org/officeDocument/2006/relationships/tags" Target="../tags/tag117.xml"/><Relationship Id="rId19" Type="http://schemas.openxmlformats.org/officeDocument/2006/relationships/tags" Target="../tags/tag134.xml"/><Relationship Id="rId18" Type="http://schemas.openxmlformats.org/officeDocument/2006/relationships/tags" Target="../tags/tag133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6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1" Type="http://schemas.openxmlformats.org/officeDocument/2006/relationships/notesSlide" Target="../notesSlides/notesSlide6.xml"/><Relationship Id="rId30" Type="http://schemas.openxmlformats.org/officeDocument/2006/relationships/slideLayout" Target="../slideLayouts/slideLayout4.xml"/><Relationship Id="rId3" Type="http://schemas.openxmlformats.org/officeDocument/2006/relationships/tags" Target="../tags/tag146.xml"/><Relationship Id="rId29" Type="http://schemas.openxmlformats.org/officeDocument/2006/relationships/tags" Target="../tags/tag172.xml"/><Relationship Id="rId28" Type="http://schemas.openxmlformats.org/officeDocument/2006/relationships/tags" Target="../tags/tag171.xml"/><Relationship Id="rId27" Type="http://schemas.openxmlformats.org/officeDocument/2006/relationships/tags" Target="../tags/tag170.xml"/><Relationship Id="rId26" Type="http://schemas.openxmlformats.org/officeDocument/2006/relationships/tags" Target="../tags/tag169.xml"/><Relationship Id="rId25" Type="http://schemas.openxmlformats.org/officeDocument/2006/relationships/tags" Target="../tags/tag168.xml"/><Relationship Id="rId24" Type="http://schemas.openxmlformats.org/officeDocument/2006/relationships/tags" Target="../tags/tag167.xml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tags" Target="../tags/tag145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0" Type="http://schemas.openxmlformats.org/officeDocument/2006/relationships/notesSlide" Target="../notesSlides/notesSlide9.xml"/><Relationship Id="rId2" Type="http://schemas.openxmlformats.org/officeDocument/2006/relationships/image" Target="../media/image4.png"/><Relationship Id="rId19" Type="http://schemas.openxmlformats.org/officeDocument/2006/relationships/slideLayout" Target="../slideLayouts/slideLayout4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tags" Target="../tags/tag18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tags" Target="../tags/tag20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7"/>
          <p:cNvSpPr/>
          <p:nvPr>
            <p:custDataLst>
              <p:tags r:id="rId1"/>
            </p:custDataLst>
          </p:nvPr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Presented by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25" name="Text 8"/>
          <p:cNvSpPr/>
          <p:nvPr>
            <p:custDataLst>
              <p:tags r:id="rId2"/>
            </p:custDataLst>
          </p:nvPr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  <a:cs typeface="Calibri" panose="020F0502020204030204" pitchFamily="34" charset="-120"/>
              </a:rPr>
              <a:t>Nana Sirri CHE Lovette Claire  |  [2419712]</a:t>
            </a:r>
            <a:endParaRPr lang="en-US" sz="105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26" name="Text 9"/>
          <p:cNvSpPr/>
          <p:nvPr>
            <p:custDataLst>
              <p:tags r:id="rId3"/>
            </p:custDataLst>
          </p:nvPr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Course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27" name="Text 10"/>
          <p:cNvSpPr/>
          <p:nvPr>
            <p:custDataLst>
              <p:tags r:id="rId4"/>
            </p:custDataLst>
          </p:nvPr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  <a:cs typeface="Calibri" panose="020F0502020204030204" pitchFamily="34" charset="-120"/>
              </a:rPr>
              <a:t>[B.Tech — Blockchain]</a:t>
            </a:r>
            <a:endParaRPr lang="en-US" sz="105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28" name="Text 11"/>
          <p:cNvSpPr/>
          <p:nvPr>
            <p:custDataLst>
              <p:tags r:id="rId5"/>
            </p:custDataLst>
          </p:nvPr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Guided by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29" name="Text 12"/>
          <p:cNvSpPr/>
          <p:nvPr>
            <p:custDataLst>
              <p:tags r:id="rId6"/>
            </p:custDataLst>
          </p:nvPr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Dr ASHIMA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30" name="Text 13"/>
          <p:cNvSpPr/>
          <p:nvPr>
            <p:custDataLst>
              <p:tags r:id="rId7"/>
            </p:custDataLst>
          </p:nvPr>
        </p:nvSpPr>
        <p:spPr>
          <a:xfrm>
            <a:off x="676656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cs typeface="Calibri" panose="020F0502020204030204" pitchFamily="34" charset="-120"/>
              </a:rPr>
              <a:t>Date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31" name="Text 14"/>
          <p:cNvSpPr/>
          <p:nvPr>
            <p:custDataLst>
              <p:tags r:id="rId8"/>
            </p:custDataLst>
          </p:nvPr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  <a:cs typeface="Calibri" panose="020F0502020204030204" pitchFamily="34" charset="-120"/>
              </a:rPr>
              <a:t>02/07/2026</a:t>
            </a:r>
            <a:endParaRPr lang="en-US" sz="105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20" name="标题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462915" y="1286510"/>
            <a:ext cx="5603875" cy="1043940"/>
          </a:xfrm>
        </p:spPr>
        <p:txBody>
          <a:bodyPr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3900" dirty="0">
                <a:ea typeface="+mj-ea"/>
              </a:rPr>
              <a:t>POWER BI PROJECT</a:t>
            </a:r>
            <a:endParaRPr lang="en-US" sz="3900" dirty="0">
              <a:ea typeface="+mj-ea"/>
            </a:endParaRPr>
          </a:p>
        </p:txBody>
      </p:sp>
      <p:sp>
        <p:nvSpPr>
          <p:cNvPr id="121" name="副标题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1967230" y="448945"/>
            <a:ext cx="6948170" cy="70866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Bef>
                <a:spcPts val="750"/>
              </a:spcBef>
              <a:spcAft>
                <a:spcPts val="0"/>
              </a:spcAft>
              <a:buSzPct val="100000"/>
            </a:pPr>
            <a:r>
              <a:rPr lang="en-US" sz="1350" dirty="0">
                <a:ea typeface="+mn-ea"/>
              </a:rPr>
              <a:t>Summer Training — Power BI | CGC UNIVERSITY MOHALI</a:t>
            </a:r>
            <a:endParaRPr lang="en-US" sz="1350" dirty="0">
              <a:ea typeface="+mn-ea"/>
            </a:endParaRPr>
          </a:p>
        </p:txBody>
      </p:sp>
      <p:sp>
        <p:nvSpPr>
          <p:cNvPr id="119" name="Title 117"/>
          <p:cNvSpPr>
            <a:spLocks noGrp="1"/>
          </p:cNvSpPr>
          <p:nvPr/>
        </p:nvSpPr>
        <p:spPr>
          <a:xfrm rot="10800000" flipV="1">
            <a:off x="1005840" y="2330450"/>
            <a:ext cx="7772400" cy="11811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+mn-lt"/>
                <a:ea typeface="+mn-ea"/>
                <a:cs typeface="+mn-cs"/>
              </a:defRPr>
            </a:lvl1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STUDENT EXAMS RESULTS ANALYZSIS</a:t>
            </a:r>
            <a:endParaRPr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32" name="Picture 131" descr="Picture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3512820" cy="79502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>
            <p:custDataLst>
              <p:tags r:id="rId1"/>
            </p:custDataLst>
          </p:nvPr>
        </p:nvSpPr>
        <p:spPr>
          <a:xfrm>
            <a:off x="411480" y="1243584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01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Problem Statement &amp; Objective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411480" y="1956816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02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Dataset Overview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660904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11480" y="2670048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03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Data Model — Star Schema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411480" y="3383280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04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914400" y="3374136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Power Query — Cleaning Steps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4087368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411480" y="4096512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05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914400" y="4087368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DAX Measures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4754880" y="1243584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06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5257800" y="123444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Dashboard Walkthrough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>
            <p:custDataLst>
              <p:tags r:id="rId13"/>
            </p:custDataLst>
          </p:nvPr>
        </p:nvSpPr>
        <p:spPr>
          <a:xfrm>
            <a:off x="4754880" y="1956816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07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14"/>
            </p:custDataLst>
          </p:nvPr>
        </p:nvSpPr>
        <p:spPr>
          <a:xfrm>
            <a:off x="5257800" y="194767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Key Insights &amp; Findings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>
            <p:custDataLst>
              <p:tags r:id="rId15"/>
            </p:custDataLst>
          </p:nvPr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08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>
            <p:custDataLst>
              <p:tags r:id="rId16"/>
            </p:custDataLst>
          </p:nvPr>
        </p:nvSpPr>
        <p:spPr>
          <a:xfrm>
            <a:off x="5257800" y="2660904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Publishing to Power BI Service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80" y="3374136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>
            <p:custDataLst>
              <p:tags r:id="rId17"/>
            </p:custDataLst>
          </p:nvPr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09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30" name="Text 28"/>
          <p:cNvSpPr/>
          <p:nvPr>
            <p:custDataLst>
              <p:tags r:id="rId18"/>
            </p:custDataLst>
          </p:nvPr>
        </p:nvSpPr>
        <p:spPr>
          <a:xfrm>
            <a:off x="5257800" y="3374136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Challenges &amp; Learnings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4087368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>
            <p:custDataLst>
              <p:tags r:id="rId19"/>
            </p:custDataLst>
          </p:nvPr>
        </p:nvSpPr>
        <p:spPr>
          <a:xfrm>
            <a:off x="4754880" y="4096512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cs typeface="Calibri" panose="020F0502020204030204" pitchFamily="34" charset="-120"/>
              </a:rPr>
              <a:t>10</a:t>
            </a:r>
            <a:endParaRPr lang="en-US" sz="1100" b="1" dirty="0">
              <a:solidFill>
                <a:srgbClr val="FFFFFF"/>
              </a:solidFill>
              <a:cs typeface="Calibri" panose="020F0502020204030204" pitchFamily="34" charset="-120"/>
            </a:endParaRPr>
          </a:p>
        </p:txBody>
      </p:sp>
      <p:sp>
        <p:nvSpPr>
          <p:cNvPr id="33" name="Text 31"/>
          <p:cNvSpPr/>
          <p:nvPr>
            <p:custDataLst>
              <p:tags r:id="rId20"/>
            </p:custDataLst>
          </p:nvPr>
        </p:nvSpPr>
        <p:spPr>
          <a:xfrm>
            <a:off x="5257800" y="4087368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cs typeface="Calibri" panose="020F0502020204030204" pitchFamily="34" charset="-120"/>
              </a:rPr>
              <a:t>Conclusion &amp; Q&amp;A</a:t>
            </a:r>
            <a:endParaRPr lang="en-US" sz="1300" dirty="0">
              <a:solidFill>
                <a:srgbClr val="1E293B"/>
              </a:solidFill>
              <a:cs typeface="Calibri" panose="020F0502020204030204" pitchFamily="34" charset="-120"/>
            </a:endParaRPr>
          </a:p>
        </p:txBody>
      </p:sp>
      <p:sp>
        <p:nvSpPr>
          <p:cNvPr id="34" name="Text 32"/>
          <p:cNvSpPr/>
          <p:nvPr>
            <p:custDataLst>
              <p:tags r:id="rId21"/>
            </p:custDataLst>
          </p:nvPr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sp>
        <p:nvSpPr>
          <p:cNvPr id="2" name="Text Box 1"/>
          <p:cNvSpPr txBox="1"/>
          <p:nvPr/>
        </p:nvSpPr>
        <p:spPr>
          <a:xfrm>
            <a:off x="603885" y="447675"/>
            <a:ext cx="1604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</a:rPr>
              <a:t>Agenda</a:t>
            </a:r>
            <a:endParaRPr lang="en-US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2000" y="2456021"/>
            <a:ext cx="8100000" cy="198501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4000" dirty="0">
                <a:ea typeface="+mj-ea"/>
              </a:rPr>
              <a:t>PROBLEM STATMENT &amp;OBJECTIVES</a:t>
            </a:r>
            <a:r>
              <a:rPr lang="en-US" sz="4500" dirty="0">
                <a:ea typeface="+mj-ea"/>
              </a:rPr>
              <a:t> </a:t>
            </a:r>
            <a:endParaRPr lang="en-US" sz="4500" dirty="0">
              <a:ea typeface="+mj-ea"/>
            </a:endParaRPr>
          </a:p>
        </p:txBody>
      </p:sp>
      <p:sp>
        <p:nvSpPr>
          <p:cNvPr id="30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43000" y="230505"/>
            <a:ext cx="6858000" cy="2069783"/>
          </a:xfrm>
        </p:spPr>
        <p:txBody>
          <a:bodyPr/>
          <a:lstStyle/>
          <a:p>
            <a:r>
              <a:rPr lang="en-US">
                <a:ea typeface="+mn-ea"/>
              </a:rPr>
              <a:t>PART01</a:t>
            </a:r>
            <a:endParaRPr lang="en-US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chemeClr val="accent3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The Problem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502920" y="1554480"/>
            <a:ext cx="3657600" cy="1051560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Students performance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100" dirty="0">
                <a:solidFill>
                  <a:schemeClr val="tx1"/>
                </a:solidFill>
              </a:rPr>
              <a:t>This project aims to understand how student performance (test scores) is influenced by various factors, including Gender, Ethnicity, Parental Level of Education, Lunch, and Test Preparation Course.</a:t>
            </a:r>
            <a:endParaRPr lang="en-US" altLang="en-US" sz="1100" dirty="0">
              <a:solidFill>
                <a:schemeClr val="tx1"/>
              </a:solidFill>
            </a:endParaRPr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572000" y="11658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chemeClr val="accent4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Target User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Project Objectives</a:t>
            </a:r>
            <a:endParaRPr lang="en-US" sz="14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365760" y="3310128"/>
            <a:ext cx="201168" cy="201168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Connect &amp; clean the raw dataset using Power Query</a:t>
            </a:r>
            <a:endParaRPr lang="en-US" sz="11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365760" y="3657600"/>
            <a:ext cx="201168" cy="201168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640080" y="3593592"/>
            <a:ext cx="3931920" cy="32004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Build a star schema data model with correct relationships</a:t>
            </a:r>
            <a:endParaRPr lang="en-US" sz="11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365760" y="4005072"/>
            <a:ext cx="201168" cy="201168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640080" y="3941064"/>
            <a:ext cx="39319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Create at least 5 meaningful DAX measures</a:t>
            </a:r>
            <a:endParaRPr lang="en-US" sz="11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4937760" y="3310128"/>
            <a:ext cx="201168" cy="201168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Design an interactive multi-page dashboard with 5+ visual types</a:t>
            </a:r>
            <a:endParaRPr lang="en-US" sz="11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5212080" y="3593592"/>
            <a:ext cx="39319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Publish the final report to Power BI Service</a:t>
            </a:r>
            <a:endParaRPr lang="en-US" sz="11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4 / 14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Text Box 38"/>
          <p:cNvSpPr txBox="1"/>
          <p:nvPr>
            <p:custDataLst>
              <p:tags r:id="rId21"/>
            </p:custDataLst>
          </p:nvPr>
        </p:nvSpPr>
        <p:spPr>
          <a:xfrm>
            <a:off x="4958080" y="1711325"/>
            <a:ext cx="3088640" cy="73723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p>
            <a:r>
              <a:rPr lang="en-US" sz="1400">
                <a:solidFill>
                  <a:schemeClr val="tx1"/>
                </a:solidFill>
              </a:rPr>
              <a:t>Teachers, School Management ,Parents, Students and Education Analysts.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6" name="Title 45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Problem Statement &amp; Objectives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2"/>
          <p:cNvSpPr/>
          <p:nvPr>
            <p:custDataLst>
              <p:tags r:id="rId1"/>
            </p:custDataLst>
          </p:nvPr>
        </p:nvSpPr>
        <p:spPr>
          <a:xfrm>
            <a:off x="457200" y="2697480"/>
            <a:ext cx="8229600" cy="13569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Source, structure, and key fields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59" name="Text 3"/>
          <p:cNvSpPr/>
          <p:nvPr>
            <p:custDataLst>
              <p:tags r:id="rId2"/>
            </p:custDataLst>
          </p:nvPr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5 / 14</a:t>
            </a:r>
            <a:endParaRPr lang="en-US" sz="9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6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22000" y="2456021"/>
            <a:ext cx="8100000" cy="198501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4500" dirty="0">
                <a:ea typeface="+mj-ea"/>
              </a:rPr>
              <a:t>02  Dataset Overview</a:t>
            </a:r>
            <a:endParaRPr lang="en-US" sz="4500" dirty="0">
              <a:ea typeface="+mj-ea"/>
            </a:endParaRPr>
          </a:p>
        </p:txBody>
      </p:sp>
      <p:sp>
        <p:nvSpPr>
          <p:cNvPr id="57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xfrm>
            <a:off x="1143000" y="230505"/>
            <a:ext cx="6858000" cy="2069783"/>
          </a:xfrm>
        </p:spPr>
        <p:txBody>
          <a:bodyPr/>
          <a:lstStyle/>
          <a:p>
            <a:r>
              <a:rPr lang="en-US">
                <a:ea typeface="+mn-ea"/>
              </a:rPr>
              <a:t>PART02</a:t>
            </a:r>
            <a:endParaRPr lang="en-US">
              <a:ea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45720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altLang="en-US" sz="600" dirty="0">
                <a:solidFill>
                  <a:schemeClr val="tx1"/>
                </a:solidFill>
              </a:rPr>
              <a:t>https://www.kaggle.com/datasets/spscientist/students-performance-in-exams?datasetId=74977</a:t>
            </a:r>
            <a:endParaRPr lang="en-US" altLang="en-US" sz="6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altLang="en-US" sz="800" dirty="0">
                <a:solidFill>
                  <a:schemeClr val="tx1"/>
                </a:solidFill>
              </a:rPr>
              <a:t>kaggle</a:t>
            </a:r>
            <a:endParaRPr lang="en-US" altLang="en-US" sz="800" dirty="0">
              <a:solidFill>
                <a:schemeClr val="tx1"/>
              </a:solidFill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Source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251460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260604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mbria" panose="02040503050406030204" pitchFamily="34" charset="-120"/>
              </a:rPr>
              <a:t> Excel</a:t>
            </a:r>
            <a:endParaRPr lang="en-US" sz="24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mbria" panose="0204050305040603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File Type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66344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1000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Rows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681228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8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alibri" panose="020F0502020204030204" pitchFamily="34" charset="-120"/>
              </a:rPr>
              <a:t>Columns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Key Columns Used</a:t>
            </a:r>
            <a:endParaRPr lang="en-US" sz="13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365760" y="2697480"/>
          <a:ext cx="5029200" cy="2091055"/>
        </p:xfrm>
        <a:graphic>
          <a:graphicData uri="http://schemas.openxmlformats.org/drawingml/2006/table">
            <a:tbl>
              <a:tblPr/>
              <a:tblGrid>
                <a:gridCol w="1900555"/>
                <a:gridCol w="3128645"/>
              </a:tblGrid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ea typeface="+mn-ea"/>
                          <a:cs typeface="Calibri" panose="020F0502020204030204" pitchFamily="34" charset="-120"/>
                        </a:rPr>
                        <a:t>Column</a:t>
                      </a:r>
                      <a:endParaRPr lang="en-US" sz="1100" b="1" dirty="0">
                        <a:solidFill>
                          <a:schemeClr val="bg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ea typeface="+mn-ea"/>
                          <a:cs typeface="Calibri" panose="020F0502020204030204" pitchFamily="34" charset="-120"/>
                        </a:rPr>
                        <a:t>Role in Dashboard</a:t>
                      </a:r>
                      <a:endParaRPr lang="en-US" sz="1100" b="1" dirty="0">
                        <a:solidFill>
                          <a:schemeClr val="bg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100" dirty="0">
                          <a:ea typeface="+mn-ea"/>
                          <a:sym typeface="+mn-ea"/>
                        </a:rPr>
                        <a:t> </a:t>
                      </a:r>
                      <a:r>
                        <a:rPr lang="en-US" altLang="en-US" sz="900" dirty="0">
                          <a:ea typeface="+mn-ea"/>
                          <a:sym typeface="+mn-ea"/>
                        </a:rPr>
                        <a:t>Parental Level of Education</a:t>
                      </a:r>
                      <a:endParaRPr lang="en-US" altLang="en-US" sz="900" dirty="0">
                        <a:ea typeface="+mn-ea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Measures impact of parents education on student performance</a:t>
                      </a:r>
                      <a:endParaRPr lang="en-US" sz="900" dirty="0"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ea typeface="+mn-ea"/>
                          <a:cs typeface="Calibri" panose="020F0502020204030204" pitchFamily="34" charset="0"/>
                        </a:rPr>
                        <a:t>Gender</a:t>
                      </a:r>
                      <a:endParaRPr lang="en-US" sz="900" dirty="0"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To compare performance between male and female students</a:t>
                      </a:r>
                      <a:endParaRPr lang="en-US" sz="900" dirty="0"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ea typeface="+mn-ea"/>
                          <a:cs typeface="Calibri" panose="020F0502020204030204" pitchFamily="34" charset="0"/>
                        </a:rPr>
                        <a:t>Race/Ethnicity</a:t>
                      </a:r>
                      <a:endParaRPr lang="en-US" sz="900" dirty="0"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To an</a:t>
                      </a:r>
                      <a:r>
                        <a:rPr lang="en-US" sz="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alyze score distribution across different groups</a:t>
                      </a:r>
                      <a:endParaRPr lang="en-US" sz="900" dirty="0"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a typeface="+mn-ea"/>
                          <a:cs typeface="Calibri" panose="020F0502020204030204" pitchFamily="34" charset="-120"/>
                        </a:rPr>
                        <a:t>Scores</a:t>
                      </a:r>
                      <a:endParaRPr lang="en-US" sz="900" dirty="0">
                        <a:solidFill>
                          <a:schemeClr val="tx1"/>
                        </a:solidFill>
                        <a:ea typeface="+mn-ea"/>
                        <a:cs typeface="Calibri" panose="020F050202020403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Measures students performance </a:t>
                      </a:r>
                      <a:endParaRPr lang="en-US" sz="900" dirty="0"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ea typeface="+mn-ea"/>
                          <a:cs typeface="Calibri" panose="020F0502020204030204" pitchFamily="34" charset="0"/>
                        </a:rPr>
                        <a:t>Lunch</a:t>
                      </a:r>
                      <a:endParaRPr lang="en-US" sz="900" dirty="0"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To study the relationship between nutrition and academic performance</a:t>
                      </a:r>
                      <a:endParaRPr lang="en-US" sz="900" dirty="0"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900" dirty="0">
                          <a:ea typeface="+mn-ea"/>
                          <a:cs typeface="Calibri" panose="020F0502020204030204" pitchFamily="34" charset="0"/>
                        </a:rPr>
                        <a:t>Test Preparation Course</a:t>
                      </a:r>
                      <a:endParaRPr lang="en-US" altLang="en-US" sz="900" dirty="0"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To compare scores before and after preparation</a:t>
                      </a:r>
                      <a:endParaRPr lang="en-US" sz="900" dirty="0"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5669280" y="2377440"/>
            <a:ext cx="3200400" cy="32004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Data Quality Steps (Power Query)</a:t>
            </a:r>
            <a:endParaRPr lang="en-US" sz="13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9" name="Shape 16"/>
          <p:cNvSpPr/>
          <p:nvPr>
            <p:custDataLst>
              <p:tags r:id="rId16"/>
            </p:custDataLst>
          </p:nvPr>
        </p:nvSpPr>
        <p:spPr>
          <a:xfrm>
            <a:off x="5669280" y="2743200"/>
            <a:ext cx="164592" cy="201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Text 17"/>
          <p:cNvSpPr/>
          <p:nvPr>
            <p:custDataLst>
              <p:tags r:id="rId17"/>
            </p:custDataLst>
          </p:nvPr>
        </p:nvSpPr>
        <p:spPr>
          <a:xfrm>
            <a:off x="5925312" y="2724912"/>
            <a:ext cx="30175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Removed duplicate rows</a:t>
            </a:r>
            <a:endParaRPr lang="en-US" sz="10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1" name="Shape 18"/>
          <p:cNvSpPr/>
          <p:nvPr>
            <p:custDataLst>
              <p:tags r:id="rId18"/>
            </p:custDataLst>
          </p:nvPr>
        </p:nvSpPr>
        <p:spPr>
          <a:xfrm>
            <a:off x="5669280" y="3090672"/>
            <a:ext cx="164592" cy="201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Text 19"/>
          <p:cNvSpPr/>
          <p:nvPr>
            <p:custDataLst>
              <p:tags r:id="rId19"/>
            </p:custDataLst>
          </p:nvPr>
        </p:nvSpPr>
        <p:spPr>
          <a:xfrm>
            <a:off x="5925312" y="3072384"/>
            <a:ext cx="30175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Fixed null values in [column]</a:t>
            </a:r>
            <a:endParaRPr lang="en-US" sz="10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3" name="Shape 20"/>
          <p:cNvSpPr/>
          <p:nvPr>
            <p:custDataLst>
              <p:tags r:id="rId20"/>
            </p:custDataLst>
          </p:nvPr>
        </p:nvSpPr>
        <p:spPr>
          <a:xfrm>
            <a:off x="5669280" y="3438144"/>
            <a:ext cx="164592" cy="201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Text 21"/>
          <p:cNvSpPr/>
          <p:nvPr>
            <p:custDataLst>
              <p:tags r:id="rId21"/>
            </p:custDataLst>
          </p:nvPr>
        </p:nvSpPr>
        <p:spPr>
          <a:xfrm>
            <a:off x="5925312" y="3419856"/>
            <a:ext cx="30175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Changed data types (Date, Number)</a:t>
            </a:r>
            <a:endParaRPr lang="en-US" sz="10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5" name="Shape 22"/>
          <p:cNvSpPr/>
          <p:nvPr>
            <p:custDataLst>
              <p:tags r:id="rId22"/>
            </p:custDataLst>
          </p:nvPr>
        </p:nvSpPr>
        <p:spPr>
          <a:xfrm>
            <a:off x="5669280" y="3785616"/>
            <a:ext cx="164592" cy="201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Text 23"/>
          <p:cNvSpPr/>
          <p:nvPr>
            <p:custDataLst>
              <p:tags r:id="rId23"/>
            </p:custDataLst>
          </p:nvPr>
        </p:nvSpPr>
        <p:spPr>
          <a:xfrm>
            <a:off x="5925312" y="3767328"/>
            <a:ext cx="30175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Renamed columns for clarity</a:t>
            </a:r>
            <a:endParaRPr lang="en-US" sz="10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27" name="Shape 24"/>
          <p:cNvSpPr/>
          <p:nvPr>
            <p:custDataLst>
              <p:tags r:id="rId24"/>
            </p:custDataLst>
          </p:nvPr>
        </p:nvSpPr>
        <p:spPr>
          <a:xfrm>
            <a:off x="5669280" y="4133088"/>
            <a:ext cx="164592" cy="201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Text 25"/>
          <p:cNvSpPr/>
          <p:nvPr>
            <p:custDataLst>
              <p:tags r:id="rId25"/>
            </p:custDataLst>
          </p:nvPr>
        </p:nvSpPr>
        <p:spPr>
          <a:xfrm>
            <a:off x="5925312" y="4114800"/>
            <a:ext cx="30175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Filtered out [cancelled/test] rows</a:t>
            </a:r>
            <a:endParaRPr lang="en-US" sz="105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30" name="Text 27"/>
          <p:cNvSpPr/>
          <p:nvPr>
            <p:custDataLst>
              <p:tags r:id="rId26"/>
            </p:custDataLst>
          </p:nvPr>
        </p:nvSpPr>
        <p:spPr>
          <a:xfrm>
            <a:off x="5925312" y="4462272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31" name="Text 28"/>
          <p:cNvSpPr/>
          <p:nvPr>
            <p:custDataLst>
              <p:tags r:id="rId27"/>
            </p:custDataLst>
          </p:nvPr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6 / 14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itle 39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Dataset Overview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2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2"/>
          <p:cNvSpPr/>
          <p:nvPr>
            <p:custDataLst>
              <p:tags r:id="rId1"/>
            </p:custDataLst>
          </p:nvPr>
        </p:nvSpPr>
        <p:spPr>
          <a:xfrm>
            <a:off x="177800" y="1280795"/>
            <a:ext cx="7989570" cy="728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S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tar schema design &amp; relationships.</a:t>
            </a:r>
            <a:endParaRPr lang="en-US" sz="14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59" name="Text 3"/>
          <p:cNvSpPr/>
          <p:nvPr>
            <p:custDataLst>
              <p:tags r:id="rId2"/>
            </p:custDataLst>
          </p:nvPr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7 / 14</a:t>
            </a:r>
            <a:endParaRPr lang="en-US" sz="9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6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795020" y="871220"/>
            <a:ext cx="8100060" cy="617220"/>
          </a:xfrm>
        </p:spPr>
        <p:txBody>
          <a:bodyPr>
            <a:normAutofit fontScale="9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4500" dirty="0">
                <a:ea typeface="+mj-ea"/>
              </a:rPr>
              <a:t> Data Model</a:t>
            </a:r>
            <a:endParaRPr lang="en-US" sz="4500" dirty="0">
              <a:ea typeface="+mj-ea"/>
            </a:endParaRPr>
          </a:p>
        </p:txBody>
      </p:sp>
      <p:sp>
        <p:nvSpPr>
          <p:cNvPr id="57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xfrm>
            <a:off x="4808220" y="94615"/>
            <a:ext cx="4086860" cy="839470"/>
          </a:xfrm>
        </p:spPr>
        <p:txBody>
          <a:bodyPr/>
          <a:lstStyle/>
          <a:p>
            <a:r>
              <a:rPr lang="en-US">
                <a:ea typeface="+mn-ea"/>
              </a:rPr>
              <a:t>PART03</a:t>
            </a:r>
            <a:endParaRPr lang="en-US">
              <a:ea typeface="+mn-ea"/>
            </a:endParaRPr>
          </a:p>
        </p:txBody>
      </p:sp>
      <p:sp>
        <p:nvSpPr>
          <p:cNvPr id="79" name="Text Box 78"/>
          <p:cNvSpPr txBox="1"/>
          <p:nvPr/>
        </p:nvSpPr>
        <p:spPr>
          <a:xfrm>
            <a:off x="3992245" y="1852295"/>
            <a:ext cx="4902200" cy="322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/>
            <a:r>
              <a:rPr lang="en-US" altLang="en-US" sz="14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sym typeface="+mn-ea"/>
              </a:rPr>
              <a:t>Data Model Type</a:t>
            </a:r>
            <a:endParaRPr lang="en-US" altLang="en-US" sz="14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  <a:p>
            <a:pPr lvl="0"/>
            <a:r>
              <a:rPr lang="en-US" altLang="en-US" sz="1200" b="1">
                <a:solidFill>
                  <a:schemeClr val="tx1"/>
                </a:solidFill>
                <a:sym typeface="+mn-ea"/>
              </a:rPr>
              <a:t>Single Table Model</a:t>
            </a:r>
            <a:endParaRPr lang="en-US" altLang="en-US" sz="1200" b="1">
              <a:solidFill>
                <a:schemeClr val="tx1"/>
              </a:solidFill>
            </a:endParaRPr>
          </a:p>
          <a:p>
            <a:pPr lvl="0"/>
            <a:endParaRPr lang="en-US" altLang="en-US" sz="12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  <a:p>
            <a:pPr lvl="0"/>
            <a:r>
              <a:rPr lang="en-US" sz="1400" b="1" dirty="0">
                <a:solidFill>
                  <a:schemeClr val="accent1"/>
                </a:solidFill>
                <a:ea typeface="+mj-ea"/>
                <a:cs typeface="+mn-ea"/>
                <a:sym typeface="+mn-ea"/>
              </a:rPr>
              <a:t>Purpose</a:t>
            </a:r>
            <a:r>
              <a:rPr lang="en-US" sz="1200" dirty="0">
                <a:ea typeface="+mj-ea"/>
                <a:cs typeface="+mn-ea"/>
                <a:sym typeface="+mn-ea"/>
              </a:rPr>
              <a:t> </a:t>
            </a:r>
            <a:endParaRPr lang="en-US" sz="1200" dirty="0">
              <a:ea typeface="+mj-ea"/>
              <a:cs typeface="+mn-ea"/>
              <a:sym typeface="+mn-ea"/>
            </a:endParaRPr>
          </a:p>
          <a:p>
            <a:pPr lvl="0"/>
            <a:r>
              <a:rPr lang="en-US" sz="1200" b="1" dirty="0">
                <a:ea typeface="+mj-ea"/>
                <a:cs typeface="+mn-ea"/>
                <a:sym typeface="+mn-ea"/>
              </a:rPr>
              <a:t>used to analysis student performance across demographics and exam scores</a:t>
            </a:r>
            <a:endParaRPr lang="en-US" sz="1200" b="1" dirty="0">
              <a:ea typeface="+mj-ea"/>
              <a:cs typeface="+mn-ea"/>
              <a:sym typeface="+mn-ea"/>
            </a:endParaRPr>
          </a:p>
          <a:p>
            <a:endParaRPr lang="en-US" sz="12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  <p:sp>
        <p:nvSpPr>
          <p:cNvPr id="80" name="Text Box 79"/>
          <p:cNvSpPr txBox="1"/>
          <p:nvPr/>
        </p:nvSpPr>
        <p:spPr>
          <a:xfrm>
            <a:off x="-134620" y="1852295"/>
            <a:ext cx="4679950" cy="322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 sz="12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8270" y="1823085"/>
            <a:ext cx="3830955" cy="2642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</a:rPr>
              <a:t>Dataset Structure</a:t>
            </a:r>
            <a:endParaRPr lang="en-US" altLang="en-US" sz="14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Source: Student Exam Performance Dataset</a:t>
            </a:r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Total Records: 1000 rows</a:t>
            </a:r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Total Columns: 8 columns</a:t>
            </a:r>
            <a:endParaRPr lang="en-US" altLang="en-US" sz="1200" b="1">
              <a:solidFill>
                <a:schemeClr val="tx1"/>
              </a:solidFill>
            </a:endParaRPr>
          </a:p>
          <a:p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4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</a:rPr>
              <a:t>Fields Used</a:t>
            </a:r>
            <a:endParaRPr lang="en-US" altLang="en-US" sz="1400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Gender</a:t>
            </a:r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Race/Ethnicity</a:t>
            </a:r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Parental Level of Education</a:t>
            </a:r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Lunch</a:t>
            </a:r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Test Preparation Course</a:t>
            </a:r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Math Score</a:t>
            </a:r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Reading Score</a:t>
            </a:r>
            <a:endParaRPr lang="en-US" altLang="en-US" sz="1200" b="1">
              <a:solidFill>
                <a:schemeClr val="tx1"/>
              </a:solidFill>
            </a:endParaRPr>
          </a:p>
          <a:p>
            <a:r>
              <a:rPr lang="en-US" altLang="en-US" sz="1200" b="1">
                <a:solidFill>
                  <a:schemeClr val="tx1"/>
                </a:solidFill>
              </a:rPr>
              <a:t>Writing Score</a:t>
            </a:r>
            <a:endParaRPr lang="en-US" altLang="en-US" sz="1200" b="1">
              <a:solidFill>
                <a:schemeClr val="tx1"/>
              </a:solidFill>
            </a:endParaRPr>
          </a:p>
          <a:p>
            <a:endParaRPr lang="en-US" altLang="en-US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2"/>
          <p:cNvSpPr/>
          <p:nvPr>
            <p:custDataLst>
              <p:tags r:id="rId1"/>
            </p:custDataLst>
          </p:nvPr>
        </p:nvSpPr>
        <p:spPr>
          <a:xfrm>
            <a:off x="457200" y="2697480"/>
            <a:ext cx="8229600" cy="21037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Pages, visuals, and interactivity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50" name="Text 3"/>
          <p:cNvSpPr/>
          <p:nvPr>
            <p:custDataLst>
              <p:tags r:id="rId2"/>
            </p:custDataLst>
          </p:nvPr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11 / 14</a:t>
            </a:r>
            <a:endParaRPr lang="en-US" sz="9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7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22000" y="2456021"/>
            <a:ext cx="8100000" cy="198501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4000" dirty="0">
                <a:ea typeface="+mj-ea"/>
              </a:rPr>
              <a:t>04  Dashboard Walkthrough</a:t>
            </a:r>
            <a:endParaRPr lang="en-US" sz="4000" dirty="0">
              <a:ea typeface="+mj-ea"/>
            </a:endParaRPr>
          </a:p>
        </p:txBody>
      </p:sp>
      <p:sp>
        <p:nvSpPr>
          <p:cNvPr id="48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xfrm>
            <a:off x="1143000" y="230505"/>
            <a:ext cx="6858000" cy="2069783"/>
          </a:xfrm>
        </p:spPr>
        <p:txBody>
          <a:bodyPr/>
          <a:lstStyle/>
          <a:p>
            <a:r>
              <a:rPr lang="en-US">
                <a:ea typeface="+mn-ea"/>
              </a:rPr>
              <a:t>PART04</a:t>
            </a:r>
            <a:endParaRPr lang="en-US">
              <a:ea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65760" y="1097280"/>
            <a:ext cx="5303520" cy="3291840"/>
          </a:xfrm>
          <a:prstGeom prst="roundRect">
            <a:avLst>
              <a:gd name="adj" fmla="val 2222"/>
            </a:avLst>
          </a:prstGeom>
          <a:blipFill rotWithShape="1">
            <a:blip r:embed="rId2"/>
            <a:stretch>
              <a:fillRect/>
            </a:stretch>
          </a:blip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Visuals on this page</a:t>
            </a:r>
            <a:endParaRPr lang="en-US" sz="13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126480" y="1481455"/>
            <a:ext cx="2834640" cy="29337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cs typeface="Calibri" panose="020F0502020204030204" pitchFamily="34" charset="-120"/>
              </a:rPr>
              <a:t>KPI Cards — Maths, Reading, Writing Scores</a:t>
            </a:r>
            <a:endParaRPr lang="en-US" sz="10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6126480" y="1823085"/>
            <a:ext cx="2834640" cy="4260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cs typeface="Calibri" panose="020F0502020204030204" pitchFamily="34" charset="-120"/>
              </a:rPr>
              <a:t>Pie Chart — Sum of reading marks by race/ethnicity and Sum of all scores</a:t>
            </a:r>
            <a:endParaRPr lang="en-US" sz="10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6126480" y="2305685"/>
            <a:ext cx="2834640" cy="4660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cs typeface="Calibri" panose="020F0502020204030204" pitchFamily="34" charset="-120"/>
              </a:rPr>
              <a:t>Line Chart — Sum of reading marks by parental level of education and test preparation course</a:t>
            </a:r>
            <a:endParaRPr lang="en-US" sz="10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126480" y="2743200"/>
            <a:ext cx="2834640" cy="447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Bar Chart 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  <a:sym typeface="+mn-ea"/>
              </a:rPr>
              <a:t>—</a:t>
            </a:r>
            <a:r>
              <a:rPr lang="en-US" sz="1000" dirty="0">
                <a:solidFill>
                  <a:schemeClr val="tx1"/>
                </a:solidFill>
              </a:rPr>
              <a:t> Sum of reading and maths marks by gender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cs typeface="Calibri" panose="020F0502020204030204" pitchFamily="34" charset="-120"/>
              </a:rPr>
              <a:t>Waterfall — Sum of maths score by race/ethnicity</a:t>
            </a:r>
            <a:endParaRPr lang="en-US" sz="10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5852160" y="365760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Key Insight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5852160" y="3831590"/>
            <a:ext cx="3108960" cy="100457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altLang="en-US" sz="1050" dirty="0">
                <a:solidFill>
                  <a:schemeClr val="tx1"/>
                </a:solidFill>
              </a:rPr>
              <a:t>At a glance, this dashboard shows aggregate exam performance broken down by gender, race/ethnicity, parental education level and test preparation status. The visuals highlight patterns like Group A leading in math scores and test-prep completion correlating with higher reading scores, making it easy to spot which demographic factors influence results.</a:t>
            </a:r>
            <a:endParaRPr lang="en-US" altLang="en-US" sz="1050" dirty="0">
              <a:solidFill>
                <a:schemeClr val="tx1"/>
              </a:solidFill>
            </a:endParaRPr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/>
                </a:solidFill>
              </a:rPr>
              <a:t>12 / 14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9" name="Title 28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Dashboard — Page 1: Overview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502920" y="1444752"/>
            <a:ext cx="411480" cy="3931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cs typeface="Cambria" panose="02040503050406030204" pitchFamily="34" charset="-120"/>
              </a:rPr>
              <a:t>01</a:t>
            </a:r>
            <a:endParaRPr lang="en-US" sz="1200" b="1" dirty="0">
              <a:solidFill>
                <a:srgbClr val="FFFFFF"/>
              </a:solidFill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Female students performed slightly better overall    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chemeClr val="accent3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02920" y="2615184"/>
            <a:ext cx="411480" cy="3931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lt1"/>
                </a:solidFill>
                <a:cs typeface="Cambria" panose="02040503050406030204" pitchFamily="34" charset="-120"/>
              </a:rPr>
              <a:t>02</a:t>
            </a:r>
            <a:endParaRPr lang="en-US" sz="12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Reading and writing scores are strongly correlated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502920" y="3785616"/>
            <a:ext cx="411480" cy="3931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lt1"/>
                </a:solidFill>
                <a:cs typeface="Cambria" panose="02040503050406030204" pitchFamily="34" charset="-120"/>
              </a:rPr>
              <a:t>03</a:t>
            </a:r>
            <a:endParaRPr lang="en-US" sz="12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cs typeface="Calibri" panose="020F0502020204030204" pitchFamily="34" charset="-120"/>
              </a:rPr>
              <a:t>Test preparation course improves performance </a:t>
            </a: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1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chemeClr val="accent5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Text 16"/>
          <p:cNvSpPr/>
          <p:nvPr>
            <p:custDataLst>
              <p:tags r:id="rId7"/>
            </p:custDataLst>
          </p:nvPr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lt1"/>
                </a:solidFill>
                <a:cs typeface="Cambria" panose="02040503050406030204" pitchFamily="34" charset="-120"/>
              </a:rPr>
              <a:t>04</a:t>
            </a:r>
            <a:endParaRPr lang="en-US" sz="12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8"/>
            </p:custDataLst>
          </p:nvPr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Parental education influences student scores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chemeClr val="accent6"/>
          </a:solidFill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Text 20"/>
          <p:cNvSpPr/>
          <p:nvPr>
            <p:custDataLst>
              <p:tags r:id="rId9"/>
            </p:custDataLst>
          </p:nvPr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lt1"/>
                </a:solidFill>
                <a:cs typeface="Cambria" panose="02040503050406030204" pitchFamily="34" charset="-120"/>
              </a:rPr>
              <a:t>05</a:t>
            </a:r>
            <a:endParaRPr lang="en-US" sz="12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10"/>
            </p:custDataLst>
          </p:nvPr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Performance varies across race/ethnicity groups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4" name="Text 22"/>
          <p:cNvSpPr/>
          <p:nvPr>
            <p:custDataLst>
              <p:tags r:id="rId11"/>
            </p:custDataLst>
          </p:nvPr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13 / 14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itle 27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Key Findings &amp; Insights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8"/>
          <p:cNvSpPr/>
          <p:nvPr>
            <p:custDataLst>
              <p:tags r:id="rId1"/>
            </p:custDataLst>
          </p:nvPr>
        </p:nvSpPr>
        <p:spPr>
          <a:xfrm>
            <a:off x="804545" y="2990215"/>
            <a:ext cx="7498080" cy="584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88" name="Text 10"/>
          <p:cNvSpPr/>
          <p:nvPr>
            <p:custDataLst>
              <p:tags r:id="rId2"/>
            </p:custDataLst>
          </p:nvPr>
        </p:nvSpPr>
        <p:spPr>
          <a:xfrm>
            <a:off x="804545" y="3679825"/>
            <a:ext cx="7498080" cy="381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Future scope: With time i will add results per semester </a:t>
            </a:r>
            <a:endParaRPr lang="en-US" sz="1300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89" name="Text 14"/>
          <p:cNvSpPr/>
          <p:nvPr>
            <p:custDataLst>
              <p:tags r:id="rId3"/>
            </p:custDataLst>
          </p:nvPr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cs typeface="Cambria" panose="02040503050406030204" pitchFamily="34" charset="-120"/>
              </a:rPr>
              <a:t>Questions &amp; Feedback Welcome</a:t>
            </a:r>
            <a:endParaRPr lang="en-US" sz="1400" b="1" dirty="0">
              <a:solidFill>
                <a:schemeClr val="tx1"/>
              </a:solidFill>
              <a:cs typeface="Cambria" panose="02040503050406030204" pitchFamily="34" charset="-120"/>
            </a:endParaRPr>
          </a:p>
        </p:txBody>
      </p:sp>
      <p:sp>
        <p:nvSpPr>
          <p:cNvPr id="90" name="Text 15"/>
          <p:cNvSpPr/>
          <p:nvPr>
            <p:custDataLst>
              <p:tags r:id="rId4"/>
            </p:custDataLst>
          </p:nvPr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14 / 14</a:t>
            </a:r>
            <a:endParaRPr lang="en-US" sz="9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4" name="标题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629285" y="159385"/>
            <a:ext cx="7886065" cy="1806575"/>
          </a:xfrm>
        </p:spPr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4000" dirty="0">
                <a:ea typeface="+mj-ea"/>
              </a:rPr>
              <a:t>Successfully built an end-to-end Power BI solution from raw data to published dashboard</a:t>
            </a:r>
            <a:endParaRPr lang="en-US" sz="4000" dirty="0">
              <a:ea typeface="+mj-ea"/>
            </a:endParaRPr>
          </a:p>
        </p:txBody>
      </p:sp>
      <p:sp>
        <p:nvSpPr>
          <p:cNvPr id="82" name="Title 79"/>
          <p:cNvSpPr>
            <a:spLocks noGrp="1"/>
          </p:cNvSpPr>
          <p:nvPr/>
        </p:nvSpPr>
        <p:spPr>
          <a:xfrm>
            <a:off x="548640" y="1739265"/>
            <a:ext cx="7772400" cy="7556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0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algn="l">
              <a:buNone/>
            </a:pPr>
            <a:r>
              <a:rPr sz="2800">
                <a:solidFill>
                  <a:schemeClr val="tx1"/>
                </a:solidFill>
                <a:ea typeface="+mn-ea"/>
                <a:cs typeface="Cambria" panose="02040503050406030204" pitchFamily="34" charset="0"/>
              </a:rPr>
              <a:t>Conclusion &amp; Thank You</a:t>
            </a:r>
            <a:endParaRPr sz="2800">
              <a:solidFill>
                <a:schemeClr val="tx1"/>
              </a:solidFill>
              <a:ea typeface="+mn-ea"/>
              <a:cs typeface="Cambria" panose="02040503050406030204" pitchFamily="34" charset="0"/>
            </a:endParaRPr>
          </a:p>
        </p:txBody>
      </p:sp>
      <p:sp>
        <p:nvSpPr>
          <p:cNvPr id="83" name="Text Placeholder 80"/>
          <p:cNvSpPr>
            <a:spLocks noGrp="1"/>
          </p:cNvSpPr>
          <p:nvPr/>
        </p:nvSpPr>
        <p:spPr>
          <a:xfrm>
            <a:off x="1063625" y="2494915"/>
            <a:ext cx="7239000" cy="11017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marL="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en-US" sz="1300" b="0" i="0" u="none" strike="noStrike" kern="1200" cap="none" spc="0" normalizeH="0" baseline="0" noProof="1" dirty="0">
                <a:solidFill>
                  <a:srgbClr val="DBEAFE"/>
                </a:solidFill>
                <a:uFillTx/>
                <a:latin typeface="+mn-lt"/>
                <a:ea typeface="Calibri" panose="020F0502020204030204" pitchFamily="34" charset="-122"/>
                <a:cs typeface="Calibri" panose="020F0502020204030204" pitchFamily="34" charset="-120"/>
              </a:defRPr>
            </a:lvl1pPr>
            <a:lvl2pPr marL="45720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800" b="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lvl="2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800" b="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lvl="3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800" b="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lvl="4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b="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altLang="en-US" sz="1400">
                <a:solidFill>
                  <a:schemeClr val="tx1"/>
                </a:solidFill>
                <a:ea typeface="+mn-ea"/>
                <a:cs typeface="Calibri" panose="020F0502020204030204" pitchFamily="34" charset="0"/>
              </a:rPr>
              <a:t>Increasing test prep course enrollment ,especially among students from lower parental-education backgrounds, could be the fastest, most equitable way to close the performance gap, since its positive effect holds true across every demographic segment shown.</a:t>
            </a:r>
            <a:endParaRPr lang="en-US" altLang="en-US" sz="1400">
              <a:solidFill>
                <a:schemeClr val="tx1"/>
              </a:solidFill>
              <a:ea typeface="+mn-ea"/>
              <a:cs typeface="Calibri" panose="020F0502020204030204" pitchFamily="3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8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86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87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1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title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7990_1*b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subtitle"/>
</p:tagLst>
</file>

<file path=ppt/tags/tag90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799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90"/>
  <p:tag name="KSO_WM_SLIDE_LAYOUT" val="a_b_f"/>
  <p:tag name="KSO_WM_SLIDE_LAYOUT_CNT" val="1_1_2"/>
  <p:tag name="KSO_WM_SLIDE_THEME_ID" val="3312678"/>
  <p:tag name="KSO_WM_SLIDE_THEME_NAME" val="Red Minimalist"/>
</p:tagLst>
</file>

<file path=ppt/tags/tag91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9"/>
  <p:tag name="KSO_WM_UNIT_ID" val="diagram19882029*l_h_i*1_1_1"/>
  <p:tag name="KSO_WM_DIAGRAM_GROUP_CODE" val="l1-1"/>
  <p:tag name="KSO_WM_TAG_VERSION" val="2.0"/>
  <p:tag name="KSO_WM_BEAUTIFY_FLAG" val="#wm#"/>
</p:tagLst>
</file>

<file path=ppt/tags/tag92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9"/>
  <p:tag name="KSO_WM_UNIT_ID" val="diagram19882029*l_h_a*1_1_2"/>
  <p:tag name="KSO_WM_DIAGRAM_GROUP_CODE" val="l1-1"/>
  <p:tag name="KSO_WM_TAG_VERSION" val="2.0"/>
  <p:tag name="KSO_WM_BEAUTIFY_FLAG" val="#wm#"/>
</p:tagLst>
</file>

<file path=ppt/tags/tag93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9"/>
  <p:tag name="KSO_WM_UNIT_ID" val="diagram19882029*l_h_i*1_2_1"/>
  <p:tag name="KSO_WM_DIAGRAM_GROUP_CODE" val="l1-1"/>
  <p:tag name="KSO_WM_TAG_VERSION" val="2.0"/>
  <p:tag name="KSO_WM_BEAUTIFY_FLAG" val="#wm#"/>
</p:tagLst>
</file>

<file path=ppt/tags/tag94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9"/>
  <p:tag name="KSO_WM_UNIT_ID" val="diagram19882029*l_h_a*1_2_2"/>
  <p:tag name="KSO_WM_DIAGRAM_GROUP_CODE" val="l1-1"/>
  <p:tag name="KSO_WM_TAG_VERSION" val="2.0"/>
  <p:tag name="KSO_WM_BEAUTIFY_FLAG" val="#wm#"/>
</p:tagLst>
</file>

<file path=ppt/tags/tag95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9"/>
  <p:tag name="KSO_WM_UNIT_ID" val="diagram19882029*l_h_i*1_3_1"/>
  <p:tag name="KSO_WM_DIAGRAM_GROUP_CODE" val="l1-1"/>
  <p:tag name="KSO_WM_TAG_VERSION" val="2.0"/>
  <p:tag name="KSO_WM_BEAUTIFY_FLAG" val="#wm#"/>
</p:tagLst>
</file>

<file path=ppt/tags/tag96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9"/>
  <p:tag name="KSO_WM_UNIT_ID" val="diagram19882029*l_h_a*1_3_2"/>
  <p:tag name="KSO_WM_DIAGRAM_GROUP_CODE" val="l1-1"/>
  <p:tag name="KSO_WM_TAG_VERSION" val="2.0"/>
  <p:tag name="KSO_WM_BEAUTIFY_FLAG" val="#wm#"/>
</p:tagLst>
</file>

<file path=ppt/tags/tag97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9"/>
  <p:tag name="KSO_WM_UNIT_ID" val="diagram19882029*l_h_i*1_4_1"/>
  <p:tag name="KSO_WM_DIAGRAM_GROUP_CODE" val="l1-1"/>
  <p:tag name="KSO_WM_TAG_VERSION" val="2.0"/>
  <p:tag name="KSO_WM_BEAUTIFY_FLAG" val="#wm#"/>
</p:tagLst>
</file>

<file path=ppt/tags/tag98.xml><?xml version="1.0" encoding="utf-8"?>
<p:tagLst xmlns:p="http://schemas.openxmlformats.org/presentationml/2006/main">
  <p:tag name="KSO_WM_UNIT_INDEX" val="1_4_2"/>
  <p:tag name="KSO_WM_UNIT_TYPE" val="l_h_a"/>
  <p:tag name="KSO_WM_TEMPLATE_CATEGORY" val="diagram"/>
  <p:tag name="KSO_WM_TEMPLATE_INDEX" val="19882029"/>
  <p:tag name="KSO_WM_UNIT_ID" val="diagram19882029*l_h_a*1_4_2"/>
  <p:tag name="KSO_WM_DIAGRAM_GROUP_CODE" val="l1-1"/>
  <p:tag name="KSO_WM_TAG_VERSION" val="2.0"/>
  <p:tag name="KSO_WM_BEAUTIFY_FLAG" val="#wm#"/>
</p:tagLst>
</file>

<file path=ppt/tags/tag99.xml><?xml version="1.0" encoding="utf-8"?>
<p:tagLst xmlns:p="http://schemas.openxmlformats.org/presentationml/2006/main">
  <p:tag name="KSO_WM_UNIT_INDEX" val="1_5_1"/>
  <p:tag name="KSO_WM_UNIT_TYPE" val="l_h_i"/>
  <p:tag name="KSO_WM_UNIT_SUBTYPE" val="d"/>
  <p:tag name="KSO_WM_TEMPLATE_CATEGORY" val="diagram"/>
  <p:tag name="KSO_WM_TEMPLATE_INDEX" val="19882029"/>
  <p:tag name="KSO_WM_UNIT_ID" val="diagram19882029*l_h_i*1_5_1"/>
  <p:tag name="KSO_WM_DIAGRAM_GROUP_CODE" val="l1-1"/>
  <p:tag name="KSO_WM_TAG_VERSION" val="2.0"/>
  <p:tag name="KSO_WM_BEAUTIFY_FLAG" val="#wm#"/>
</p:tagLst>
</file>

<file path=ppt/tags/tag100.xml><?xml version="1.0" encoding="utf-8"?>
<p:tagLst xmlns:p="http://schemas.openxmlformats.org/presentationml/2006/main">
  <p:tag name="KSO_WM_UNIT_INDEX" val="1_5_2"/>
  <p:tag name="KSO_WM_UNIT_TYPE" val="l_h_a"/>
  <p:tag name="KSO_WM_TEMPLATE_CATEGORY" val="diagram"/>
  <p:tag name="KSO_WM_TEMPLATE_INDEX" val="19882029"/>
  <p:tag name="KSO_WM_UNIT_ID" val="diagram19882029*l_h_a*1_5_2"/>
  <p:tag name="KSO_WM_DIAGRAM_GROUP_CODE" val="l1-1"/>
  <p:tag name="KSO_WM_TAG_VERSION" val="2.0"/>
  <p:tag name="KSO_WM_BEAUTIFY_FLAG" val="#wm#"/>
</p:tagLst>
</file>

<file path=ppt/tags/tag101.xml><?xml version="1.0" encoding="utf-8"?>
<p:tagLst xmlns:p="http://schemas.openxmlformats.org/presentationml/2006/main">
  <p:tag name="KSO_WM_UNIT_INDEX" val="1_6_1"/>
  <p:tag name="KSO_WM_UNIT_TYPE" val="l_h_i"/>
  <p:tag name="KSO_WM_UNIT_SUBTYPE" val="d"/>
  <p:tag name="KSO_WM_TEMPLATE_CATEGORY" val="diagram"/>
  <p:tag name="KSO_WM_TEMPLATE_INDEX" val="19882029"/>
  <p:tag name="KSO_WM_UNIT_ID" val="diagram19882029*l_h_i*1_6_1"/>
  <p:tag name="KSO_WM_DIAGRAM_GROUP_CODE" val="l1-1"/>
  <p:tag name="KSO_WM_TAG_VERSION" val="2.0"/>
  <p:tag name="KSO_WM_BEAUTIFY_FLAG" val="#wm#"/>
</p:tagLst>
</file>

<file path=ppt/tags/tag102.xml><?xml version="1.0" encoding="utf-8"?>
<p:tagLst xmlns:p="http://schemas.openxmlformats.org/presentationml/2006/main">
  <p:tag name="KSO_WM_UNIT_INDEX" val="1_6_2"/>
  <p:tag name="KSO_WM_UNIT_TYPE" val="l_h_a"/>
  <p:tag name="KSO_WM_TEMPLATE_CATEGORY" val="diagram"/>
  <p:tag name="KSO_WM_TEMPLATE_INDEX" val="19882029"/>
  <p:tag name="KSO_WM_UNIT_ID" val="diagram19882029*l_h_a*1_6_2"/>
  <p:tag name="KSO_WM_DIAGRAM_GROUP_CODE" val="l1-1"/>
  <p:tag name="KSO_WM_TAG_VERSION" val="2.0"/>
  <p:tag name="KSO_WM_BEAUTIFY_FLAG" val="#wm#"/>
</p:tagLst>
</file>

<file path=ppt/tags/tag103.xml><?xml version="1.0" encoding="utf-8"?>
<p:tagLst xmlns:p="http://schemas.openxmlformats.org/presentationml/2006/main">
  <p:tag name="KSO_WM_UNIT_INDEX" val="1_7_1"/>
  <p:tag name="KSO_WM_UNIT_TYPE" val="l_h_i"/>
  <p:tag name="KSO_WM_UNIT_SUBTYPE" val="d"/>
  <p:tag name="KSO_WM_TEMPLATE_CATEGORY" val="diagram"/>
  <p:tag name="KSO_WM_TEMPLATE_INDEX" val="19882029"/>
  <p:tag name="KSO_WM_UNIT_ID" val="diagram19882029*l_h_i*1_7_1"/>
  <p:tag name="KSO_WM_DIAGRAM_GROUP_CODE" val="l1-1"/>
  <p:tag name="KSO_WM_TAG_VERSION" val="2.0"/>
  <p:tag name="KSO_WM_BEAUTIFY_FLAG" val="#wm#"/>
</p:tagLst>
</file>

<file path=ppt/tags/tag104.xml><?xml version="1.0" encoding="utf-8"?>
<p:tagLst xmlns:p="http://schemas.openxmlformats.org/presentationml/2006/main">
  <p:tag name="KSO_WM_UNIT_INDEX" val="1_7_2"/>
  <p:tag name="KSO_WM_UNIT_TYPE" val="l_h_a"/>
  <p:tag name="KSO_WM_TEMPLATE_CATEGORY" val="diagram"/>
  <p:tag name="KSO_WM_TEMPLATE_INDEX" val="19882029"/>
  <p:tag name="KSO_WM_UNIT_ID" val="diagram19882029*l_h_a*1_7_2"/>
  <p:tag name="KSO_WM_DIAGRAM_GROUP_CODE" val="l1-1"/>
  <p:tag name="KSO_WM_TAG_VERSION" val="2.0"/>
  <p:tag name="KSO_WM_BEAUTIFY_FLAG" val="#wm#"/>
</p:tagLst>
</file>

<file path=ppt/tags/tag105.xml><?xml version="1.0" encoding="utf-8"?>
<p:tagLst xmlns:p="http://schemas.openxmlformats.org/presentationml/2006/main">
  <p:tag name="KSO_WM_UNIT_INDEX" val="1_8_1"/>
  <p:tag name="KSO_WM_UNIT_TYPE" val="l_h_i"/>
  <p:tag name="KSO_WM_UNIT_SUBTYPE" val="d"/>
  <p:tag name="KSO_WM_TEMPLATE_CATEGORY" val="diagram"/>
  <p:tag name="KSO_WM_TEMPLATE_INDEX" val="19882029"/>
  <p:tag name="KSO_WM_UNIT_ID" val="diagram19882029*l_h_i*1_8_1"/>
  <p:tag name="KSO_WM_DIAGRAM_GROUP_CODE" val="l1-1"/>
  <p:tag name="KSO_WM_TAG_VERSION" val="2.0"/>
  <p:tag name="KSO_WM_BEAUTIFY_FLAG" val="#wm#"/>
</p:tagLst>
</file>

<file path=ppt/tags/tag106.xml><?xml version="1.0" encoding="utf-8"?>
<p:tagLst xmlns:p="http://schemas.openxmlformats.org/presentationml/2006/main">
  <p:tag name="KSO_WM_UNIT_INDEX" val="1_8_2"/>
  <p:tag name="KSO_WM_UNIT_TYPE" val="l_h_a"/>
  <p:tag name="KSO_WM_TEMPLATE_CATEGORY" val="diagram"/>
  <p:tag name="KSO_WM_TEMPLATE_INDEX" val="19882029"/>
  <p:tag name="KSO_WM_UNIT_ID" val="diagram19882029*l_h_a*1_8_2"/>
  <p:tag name="KSO_WM_DIAGRAM_GROUP_CODE" val="l1-1"/>
  <p:tag name="KSO_WM_TAG_VERSION" val="2.0"/>
  <p:tag name="KSO_WM_BEAUTIFY_FLAG" val="#wm#"/>
</p:tagLst>
</file>

<file path=ppt/tags/tag107.xml><?xml version="1.0" encoding="utf-8"?>
<p:tagLst xmlns:p="http://schemas.openxmlformats.org/presentationml/2006/main">
  <p:tag name="KSO_WM_UNIT_INDEX" val="1_9_1"/>
  <p:tag name="KSO_WM_UNIT_TYPE" val="l_h_i"/>
  <p:tag name="KSO_WM_UNIT_SUBTYPE" val="d"/>
  <p:tag name="KSO_WM_TEMPLATE_CATEGORY" val="diagram"/>
  <p:tag name="KSO_WM_TEMPLATE_INDEX" val="19882029"/>
  <p:tag name="KSO_WM_UNIT_ID" val="diagram19882029*l_h_i*1_9_1"/>
  <p:tag name="KSO_WM_DIAGRAM_GROUP_CODE" val="l1-1"/>
  <p:tag name="KSO_WM_TAG_VERSION" val="2.0"/>
  <p:tag name="KSO_WM_BEAUTIFY_FLAG" val="#wm#"/>
</p:tagLst>
</file>

<file path=ppt/tags/tag108.xml><?xml version="1.0" encoding="utf-8"?>
<p:tagLst xmlns:p="http://schemas.openxmlformats.org/presentationml/2006/main">
  <p:tag name="KSO_WM_UNIT_INDEX" val="1_9_2"/>
  <p:tag name="KSO_WM_UNIT_TYPE" val="l_h_a"/>
  <p:tag name="KSO_WM_TEMPLATE_CATEGORY" val="diagram"/>
  <p:tag name="KSO_WM_TEMPLATE_INDEX" val="19882029"/>
  <p:tag name="KSO_WM_UNIT_ID" val="diagram19882029*l_h_a*1_9_2"/>
  <p:tag name="KSO_WM_DIAGRAM_GROUP_CODE" val="l1-1"/>
  <p:tag name="KSO_WM_TAG_VERSION" val="2.0"/>
  <p:tag name="KSO_WM_BEAUTIFY_FLAG" val="#wm#"/>
</p:tagLst>
</file>

<file path=ppt/tags/tag109.xml><?xml version="1.0" encoding="utf-8"?>
<p:tagLst xmlns:p="http://schemas.openxmlformats.org/presentationml/2006/main">
  <p:tag name="KSO_WM_UNIT_INDEX" val="1_10_1"/>
  <p:tag name="KSO_WM_UNIT_TYPE" val="l_h_i"/>
  <p:tag name="KSO_WM_UNIT_SUBTYPE" val="d"/>
  <p:tag name="KSO_WM_TEMPLATE_CATEGORY" val="diagram"/>
  <p:tag name="KSO_WM_TEMPLATE_INDEX" val="19882029"/>
  <p:tag name="KSO_WM_UNIT_ID" val="diagram19882029*l_h_i*1_10_1"/>
  <p:tag name="KSO_WM_DIAGRAM_GROUP_CODE" val="l1-1"/>
  <p:tag name="KSO_WM_TAG_VERSION" val="2.0"/>
  <p:tag name="KSO_WM_BEAUTIFY_FLAG" val="#wm#"/>
</p:tagLst>
</file>

<file path=ppt/tags/tag110.xml><?xml version="1.0" encoding="utf-8"?>
<p:tagLst xmlns:p="http://schemas.openxmlformats.org/presentationml/2006/main">
  <p:tag name="KSO_WM_UNIT_INDEX" val="1_10_2"/>
  <p:tag name="KSO_WM_UNIT_TYPE" val="l_h_a"/>
  <p:tag name="KSO_WM_TEMPLATE_CATEGORY" val="diagram"/>
  <p:tag name="KSO_WM_TEMPLATE_INDEX" val="19882029"/>
  <p:tag name="KSO_WM_UNIT_ID" val="diagram19882029*l_h_a*1_10_2"/>
  <p:tag name="KSO_WM_DIAGRAM_GROUP_CODE" val="l1-1"/>
  <p:tag name="KSO_WM_TAG_VERSION" val="2.0"/>
  <p:tag name="KSO_WM_BEAUTIFY_FLAG" val="#wm#"/>
</p:tagLst>
</file>

<file path=ppt/tags/tag11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12.xml><?xml version="1.0" encoding="utf-8"?>
<p:tagLst xmlns:p="http://schemas.openxmlformats.org/presentationml/2006/main">
  <p:tag name="KSO_WM_SLIDE_TYPE" val="contents"/>
  <p:tag name="KSO_WM_BEAUTIFY_FLAG" val="#wm#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7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title here"/>
</p:tagLst>
</file>

<file path=ppt/tags/tag114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7990_7*e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PART01"/>
</p:tagLst>
</file>

<file path=ppt/tags/tag115.xml><?xml version="1.0" encoding="utf-8"?>
<p:tagLst xmlns:p="http://schemas.openxmlformats.org/presentationml/2006/main">
  <p:tag name="KSO_WM_SPECIAL_SOURCE" val="bdnull"/>
  <p:tag name="KSO_WM_SLIDE_ID" val="custom2023799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7990"/>
  <p:tag name="KSO_WM_SLIDE_LAYOUT" val="a_e"/>
  <p:tag name="KSO_WM_SLIDE_LAYOUT_CNT" val="1_1"/>
  <p:tag name="KSO_WM_SLIDE_THEME_ID" val="3312678"/>
  <p:tag name="KSO_WM_SLIDE_THEME_NAME" val="Red Minimalist"/>
</p:tagLst>
</file>

<file path=ppt/tags/tag116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17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1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1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2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2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2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23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12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25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126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28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30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131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132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34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SLIDE_TYPE" val="text"/>
  <p:tag name="KSO_WM_BEAUTIFY_FLAG" val="#wm#"/>
</p:tagLst>
</file>

<file path=ppt/tags/tag13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7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title here"/>
</p:tagLst>
</file>

<file path=ppt/tags/tag142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7990_7*e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PART02"/>
</p:tagLst>
</file>

<file path=ppt/tags/tag143.xml><?xml version="1.0" encoding="utf-8"?>
<p:tagLst xmlns:p="http://schemas.openxmlformats.org/presentationml/2006/main">
  <p:tag name="KSO_WM_SPECIAL_SOURCE" val="bdnull"/>
  <p:tag name="KSO_WM_SLIDE_ID" val="custom2023799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7990"/>
  <p:tag name="KSO_WM_SLIDE_LAYOUT" val="a_e"/>
  <p:tag name="KSO_WM_SLIDE_LAYOUT_CNT" val="1_1"/>
  <p:tag name="KSO_WM_SLIDE_THEME_ID" val="3312678"/>
  <p:tag name="KSO_WM_SLIDE_THEME_NAME" val="Red Minimalist"/>
</p:tagLst>
</file>

<file path=ppt/tags/tag14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45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4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5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5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55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6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57.xml><?xml version="1.0" encoding="utf-8"?>
<p:tagLst xmlns:p="http://schemas.openxmlformats.org/presentationml/2006/main">
  <p:tag name="KSO_WM_UNIT_INDEX" val="17"/>
  <p:tag name="KSO_WM_UNIT_TYPE" val="β"/>
  <p:tag name="KSO_WM_BEAUTIFY_FLAG" val="#wm#"/>
</p:tagLst>
</file>

<file path=ppt/tags/tag158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159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161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163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165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167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169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Problem Statement &amp; Objectiv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72.xml><?xml version="1.0" encoding="utf-8"?>
<p:tagLst xmlns:p="http://schemas.openxmlformats.org/presentationml/2006/main">
  <p:tag name="KSO_WM_SLIDE_TYPE" val="text"/>
  <p:tag name="KSO_WM_BEAUTIFY_FLAG" val="#wm#"/>
</p:tagLst>
</file>

<file path=ppt/tags/tag17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7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7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title here"/>
</p:tagLst>
</file>

<file path=ppt/tags/tag176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7990_7*e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PART03"/>
</p:tagLst>
</file>

<file path=ppt/tags/tag177.xml><?xml version="1.0" encoding="utf-8"?>
<p:tagLst xmlns:p="http://schemas.openxmlformats.org/presentationml/2006/main">
  <p:tag name="KSO_WM_SPECIAL_SOURCE" val="bdnull"/>
  <p:tag name="KSO_WM_SLIDE_ID" val="custom2023799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7990"/>
  <p:tag name="KSO_WM_SLIDE_LAYOUT" val="a_e"/>
  <p:tag name="KSO_WM_SLIDE_LAYOUT_CNT" val="1_1"/>
  <p:tag name="KSO_WM_SLIDE_THEME_ID" val="3312678"/>
  <p:tag name="KSO_WM_SLIDE_THEME_NAME" val="Red Minimalist"/>
</p:tagLst>
</file>

<file path=ppt/tags/tag17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7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7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title here"/>
</p:tagLst>
</file>

<file path=ppt/tags/tag181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7990_7*e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PART04"/>
</p:tagLst>
</file>

<file path=ppt/tags/tag182.xml><?xml version="1.0" encoding="utf-8"?>
<p:tagLst xmlns:p="http://schemas.openxmlformats.org/presentationml/2006/main">
  <p:tag name="KSO_WM_SPECIAL_SOURCE" val="bdnull"/>
  <p:tag name="KSO_WM_SLIDE_ID" val="custom2023799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7990"/>
  <p:tag name="KSO_WM_SLIDE_LAYOUT" val="a_e"/>
  <p:tag name="KSO_WM_SLIDE_LAYOUT_CNT" val="1_1"/>
  <p:tag name="KSO_WM_SLIDE_THEME_ID" val="3312678"/>
  <p:tag name="KSO_WM_SLIDE_THEME_NAME" val="Red Minimalist"/>
</p:tagLst>
</file>

<file path=ppt/tags/tag183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8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85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8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87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18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89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190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91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192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93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19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9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96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9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98.xml><?xml version="1.0" encoding="utf-8"?>
<p:tagLst xmlns:p="http://schemas.openxmlformats.org/presentationml/2006/main">
  <p:tag name="KSO_WM_UNIT_TEXT" val="Dataset Overvie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99.xml><?xml version="1.0" encoding="utf-8"?>
<p:tagLst xmlns:p="http://schemas.openxmlformats.org/presentationml/2006/main">
  <p:tag name="KSO_WM_SLIDE_TYPE" val="text"/>
  <p:tag name="KSO_WM_BEAUTIFY_FLAG" val="#wm#"/>
</p:tagLst>
</file>

<file path=ppt/tags/tag200.xml><?xml version="1.0" encoding="utf-8"?>
<p:tagLst xmlns:p="http://schemas.openxmlformats.org/presentationml/2006/main">
  <p:tag name="KSO_WM_UNIT_INDEX" val="1_1_2"/>
  <p:tag name="KSO_WM_UNIT_TYPE" val="l_h_i"/>
  <p:tag name="KSO_WM_UNIT_SUBTYPE" val="d"/>
  <p:tag name="KSO_WM_TEMPLATE_CATEGORY" val="diagram"/>
  <p:tag name="KSO_WM_TEMPLATE_INDEX" val="19882022"/>
  <p:tag name="KSO_WM_UNIT_ID" val="diagram19882022*l_h_i*1_1_2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01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02.xml><?xml version="1.0" encoding="utf-8"?>
<p:tagLst xmlns:p="http://schemas.openxmlformats.org/presentationml/2006/main">
  <p:tag name="KSO_WM_UNIT_INDEX" val="1_2_2"/>
  <p:tag name="KSO_WM_UNIT_TYPE" val="l_h_i"/>
  <p:tag name="KSO_WM_UNIT_SUBTYPE" val="d"/>
  <p:tag name="KSO_WM_TEMPLATE_CATEGORY" val="diagram"/>
  <p:tag name="KSO_WM_TEMPLATE_INDEX" val="19882022"/>
  <p:tag name="KSO_WM_UNIT_ID" val="diagram19882022*l_h_i*1_2_2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03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04.xml><?xml version="1.0" encoding="utf-8"?>
<p:tagLst xmlns:p="http://schemas.openxmlformats.org/presentationml/2006/main">
  <p:tag name="KSO_WM_UNIT_INDEX" val="1_3_2"/>
  <p:tag name="KSO_WM_UNIT_TYPE" val="l_h_i"/>
  <p:tag name="KSO_WM_UNIT_SUBTYPE" val="d"/>
  <p:tag name="KSO_WM_TEMPLATE_CATEGORY" val="diagram"/>
  <p:tag name="KSO_WM_TEMPLATE_INDEX" val="19882022"/>
  <p:tag name="KSO_WM_UNIT_ID" val="diagram19882022*l_h_i*1_3_2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05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06.xml><?xml version="1.0" encoding="utf-8"?>
<p:tagLst xmlns:p="http://schemas.openxmlformats.org/presentationml/2006/main">
  <p:tag name="KSO_WM_UNIT_INDEX" val="1_4_2"/>
  <p:tag name="KSO_WM_UNIT_TYPE" val="l_h_i"/>
  <p:tag name="KSO_WM_UNIT_SUBTYPE" val="d"/>
  <p:tag name="KSO_WM_TEMPLATE_CATEGORY" val="diagram"/>
  <p:tag name="KSO_WM_TEMPLATE_INDEX" val="19882022"/>
  <p:tag name="KSO_WM_UNIT_ID" val="diagram19882022*l_h_i*1_4_2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07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08.xml><?xml version="1.0" encoding="utf-8"?>
<p:tagLst xmlns:p="http://schemas.openxmlformats.org/presentationml/2006/main">
  <p:tag name="KSO_WM_UNIT_INDEX" val="1_5_2"/>
  <p:tag name="KSO_WM_UNIT_TYPE" val="l_h_i"/>
  <p:tag name="KSO_WM_UNIT_SUBTYPE" val="d"/>
  <p:tag name="KSO_WM_TEMPLATE_CATEGORY" val="diagram"/>
  <p:tag name="KSO_WM_TEMPLATE_INDEX" val="19882022"/>
  <p:tag name="KSO_WM_UNIT_ID" val="diagram19882022*l_h_i*1_5_2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09.xml><?xml version="1.0" encoding="utf-8"?>
<p:tagLst xmlns:p="http://schemas.openxmlformats.org/presentationml/2006/main">
  <p:tag name="KSO_WM_UNIT_INDEX" val="1_5_1"/>
  <p:tag name="KSO_WM_UNIT_TYPE" val="l_h_f"/>
  <p:tag name="KSO_WM_UNIT_SUBTYPE" val="a"/>
  <p:tag name="KSO_WM_TEMPLATE_CATEGORY" val="diagram"/>
  <p:tag name="KSO_WM_TEMPLATE_INDEX" val="19882022"/>
  <p:tag name="KSO_WM_UNIT_ID" val="diagram19882022*l_h_f*1_5_1"/>
  <p:tag name="KSO_WM_DIAGRAM_GROUP_CODE" val="l1-1"/>
  <p:tag name="KSO_WM_TAG_VERSION" val="2.0"/>
  <p:tag name="KSO_WM_BEAUTIFY_FLAG" val="#wm#"/>
  <p:tag name="KSO_WM_DIAGRAM_VIRTUALLY_FRAME" val="{&quot;height&quot;:249.11999999999998,&quot;left&quot;:39.6,&quot;top&quot;:97.2,&quot;width&quot;:655.2}"/>
</p:tagLst>
</file>

<file path=ppt/tags/tag21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11.xml><?xml version="1.0" encoding="utf-8"?>
<p:tagLst xmlns:p="http://schemas.openxmlformats.org/presentationml/2006/main">
  <p:tag name="KSO_WM_UNIT_TEXT" val="Purpose &#13;used to analysis student performance across demographics and exam scores &#13;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212.xml><?xml version="1.0" encoding="utf-8"?>
<p:tagLst xmlns:p="http://schemas.openxmlformats.org/presentationml/2006/main">
  <p:tag name="KSO_WM_SLIDE_TYPE" val="text"/>
  <p:tag name="KSO_WM_BEAUTIFY_FLAG" val="#wm#"/>
</p:tagLst>
</file>

<file path=ppt/tags/tag21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1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1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9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THANK YOU"/>
</p:tagLst>
</file>

<file path=ppt/tags/tag218.xml><?xml version="1.0" encoding="utf-8"?>
<p:tagLst xmlns:p="http://schemas.openxmlformats.org/presentationml/2006/main">
  <p:tag name="KSO_WM_SPECIAL_SOURCE" val="bdnull"/>
  <p:tag name="KSO_WM_SLIDE_ID" val="custom20237990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7990"/>
  <p:tag name="KSO_WM_SLIDE_LAYOUT" val="a_f"/>
  <p:tag name="KSO_WM_SLIDE_LAYOUT_CNT" val="1_2"/>
  <p:tag name="KSO_WM_SLIDE_THEME_ID" val="3312678"/>
  <p:tag name="KSO_WM_SLIDE_THEME_NAME" val="Red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3873</Words>
  <Application>WPS Presentation</Application>
  <PresentationFormat>On-screen Show (16:9)</PresentationFormat>
  <Paragraphs>262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Cambria</vt:lpstr>
      <vt:lpstr>Calibri</vt:lpstr>
      <vt:lpstr>Cambria</vt:lpstr>
      <vt:lpstr>Cambria</vt:lpstr>
      <vt:lpstr>Calibri</vt:lpstr>
      <vt:lpstr>Wingdings</vt:lpstr>
      <vt:lpstr>Lato</vt:lpstr>
      <vt:lpstr>Segoe Print</vt:lpstr>
      <vt:lpstr>Manrope ExtraBold</vt:lpstr>
      <vt:lpstr>Microsoft YaHei</vt:lpstr>
      <vt:lpstr>Arial Unicode MS</vt:lpstr>
      <vt:lpstr>Aptos</vt:lpstr>
      <vt:lpstr>Segoe UI</vt:lpstr>
      <vt:lpstr>Office Theme</vt:lpstr>
      <vt:lpstr>1_Office Theme</vt:lpstr>
      <vt:lpstr>2_Office Theme</vt:lpstr>
      <vt:lpstr>POWER BI PROJECT</vt:lpstr>
      <vt:lpstr>PowerPoint 演示文稿</vt:lpstr>
      <vt:lpstr>PROBLEM STATMENT &amp;OBJECTIVES </vt:lpstr>
      <vt:lpstr>Problem Statement &amp; Objectives</vt:lpstr>
      <vt:lpstr>02  Dataset Overview</vt:lpstr>
      <vt:lpstr>Dataset Overview</vt:lpstr>
      <vt:lpstr>03  Data Model</vt:lpstr>
      <vt:lpstr>04  Dashboard Walkthrough</vt:lpstr>
      <vt:lpstr>Dashboard — Page 1: Overview</vt:lpstr>
      <vt:lpstr>Key Findings &amp; Insights</vt:lpstr>
      <vt:lpstr>Successfully built an end-to-end Power BI solution from raw data to published dashboard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creator>PptxGenJS</dc:creator>
  <dc:subject>PptxGenJS Presentation</dc:subject>
  <cp:lastModifiedBy>Binana Claire</cp:lastModifiedBy>
  <cp:revision>7</cp:revision>
  <dcterms:created xsi:type="dcterms:W3CDTF">2026-06-29T04:56:00Z</dcterms:created>
  <dcterms:modified xsi:type="dcterms:W3CDTF">2026-07-03T20:14:41Z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9361FBE47AB24D58B15898AC8818E2C2_13</vt:lpwstr>
  </property>
</Properties>
</file>